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notesMasterIdLst>
    <p:notesMasterId r:id="rId11"/>
  </p:notesMasterIdLst>
  <p:sldIdLst>
    <p:sldId id="256" r:id="rId2"/>
    <p:sldId id="259" r:id="rId3"/>
    <p:sldId id="266" r:id="rId4"/>
    <p:sldId id="261" r:id="rId5"/>
    <p:sldId id="267" r:id="rId6"/>
    <p:sldId id="268" r:id="rId7"/>
    <p:sldId id="263" r:id="rId8"/>
    <p:sldId id="264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96689-2E79-7F3B-6760-42608DE82A8B}" v="117" dt="2025-12-31T03:19:11.092"/>
    <p1510:client id="{090788E6-7F6E-6213-9514-9D751A6F6BC2}" v="118" dt="2025-12-30T15:02:00.823"/>
    <p1510:client id="{29D4496C-7508-4133-8097-D8CE7C155CC3}" v="1" dt="2025-12-29T20:26:08.346"/>
    <p1510:client id="{333BA03D-E143-191A-BBC4-A35E02527B05}" v="99" dt="2025-12-30T13:11:09.663"/>
    <p1510:client id="{7FDDA727-4A05-7DA6-F9DD-4A64D09EC9F1}" v="283" dt="2025-12-30T14:24:35.271"/>
    <p1510:client id="{9A639348-44EF-1EA4-5EAE-7D8B7CAE55CD}" v="867" dt="2025-12-30T15:49:26.339"/>
    <p1510:client id="{A0506C5A-4579-BB25-9BAE-4ADBBF7E946B}" v="110" dt="2025-12-30T13:50:18.334"/>
    <p1510:client id="{BAE25926-FB26-E72A-B9C1-DEDB354E5A07}" v="110" dt="2025-12-30T13:16:05.460"/>
    <p1510:client id="{FFEB18C2-4317-60E5-B8C5-46DC00FF4105}" v="490" dt="2025-12-30T13:49:5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C60D7-FF6B-45AD-BD41-463706AD779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15C7-3B0B-4518-8B4E-2E758A547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27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7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83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57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590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809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92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41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914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32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6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5E4F0-0E77-41D7-BD9E-077B40B161F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A352C70-DA3D-4A67-B0A7-DC62BFEB12A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7970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7F47-CE0C-30FC-9D33-25AE83F74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737" y="1344314"/>
            <a:ext cx="7663616" cy="1709530"/>
          </a:xfrm>
        </p:spPr>
        <p:txBody>
          <a:bodyPr>
            <a:noAutofit/>
          </a:bodyPr>
          <a:lstStyle/>
          <a:p>
            <a:pPr algn="l"/>
            <a:r>
              <a:rPr lang="en-IN" sz="6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TRADING Strategy</a:t>
            </a:r>
            <a:br>
              <a:rPr lang="en-IN" sz="3600" dirty="0"/>
            </a:br>
            <a:endParaRPr lang="en-IN" sz="36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780C1-4B92-85B8-86A8-94BB25971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7265" y="4942186"/>
            <a:ext cx="4119767" cy="1143000"/>
          </a:xfrm>
        </p:spPr>
        <p:txBody>
          <a:bodyPr vert="horz" lIns="91440" tIns="91440" rIns="91440" bIns="91440" rtlCol="0" anchor="t">
            <a:noAutofit/>
          </a:bodyPr>
          <a:lstStyle/>
          <a:p>
            <a:pPr algn="r"/>
            <a:r>
              <a:rPr lang="en-IN" sz="4400" cap="none" dirty="0">
                <a:latin typeface="Angsana New" panose="02020603050405020304" pitchFamily="18" charset="-34"/>
                <a:cs typeface="Angsana New" panose="02020603050405020304" pitchFamily="18" charset="-34"/>
              </a:rPr>
              <a:t>By – Bhaswati Koley </a:t>
            </a:r>
            <a:endParaRPr lang="en-US" sz="4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6717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1E5F-7B7F-F156-9901-57DC935AD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749" y="288235"/>
            <a:ext cx="8643154" cy="875326"/>
          </a:xfrm>
        </p:spPr>
        <p:txBody>
          <a:bodyPr>
            <a:normAutofit/>
          </a:bodyPr>
          <a:lstStyle/>
          <a:p>
            <a:r>
              <a:rPr lang="en-IN" sz="2800" b="1">
                <a:solidFill>
                  <a:schemeClr val="tx1"/>
                </a:solidFill>
              </a:rPr>
              <a:t>STRATEGY INTRODUCTION </a:t>
            </a:r>
            <a:br>
              <a:rPr lang="en-IN" sz="2800">
                <a:solidFill>
                  <a:schemeClr val="tx1"/>
                </a:solidFill>
              </a:rPr>
            </a:br>
            <a:r>
              <a:rPr lang="en-IN" sz="2800" b="1" u="sng">
                <a:solidFill>
                  <a:schemeClr val="tx1"/>
                </a:solidFill>
              </a:rPr>
              <a:t>magic band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7FC26-693F-5EFE-C29F-BAB485BCD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693" y="1252331"/>
            <a:ext cx="11403493" cy="4736109"/>
          </a:xfrm>
        </p:spPr>
        <p:txBody>
          <a:bodyPr vert="horz" lIns="91440" tIns="91440" rIns="91440" bIns="45720" rtlCol="0" anchor="t">
            <a:normAutofit fontScale="92500" lnSpcReduction="20000"/>
          </a:bodyPr>
          <a:lstStyle/>
          <a:p>
            <a:pPr marL="342900" indent="-342900" algn="l">
              <a:buChar char="•"/>
            </a:pPr>
            <a:r>
              <a:rPr lang="en-IN" sz="2000" b="1" dirty="0"/>
              <a:t>Magic</a:t>
            </a:r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Band </a:t>
            </a:r>
            <a:r>
              <a:rPr lang="en-IN" sz="2000" dirty="0"/>
              <a:t> is an indicator based on 20 moving average </a:t>
            </a:r>
            <a:r>
              <a:rPr lang="en-IN" sz="2000" dirty="0">
                <a:solidFill>
                  <a:schemeClr val="accent5"/>
                </a:solidFill>
              </a:rPr>
              <a:t>high</a:t>
            </a:r>
            <a:r>
              <a:rPr lang="en-IN" sz="2000" dirty="0"/>
              <a:t> and </a:t>
            </a:r>
            <a:r>
              <a:rPr lang="en-IN" sz="2000" dirty="0">
                <a:solidFill>
                  <a:srgbClr val="FF0000"/>
                </a:solidFill>
              </a:rPr>
              <a:t>low</a:t>
            </a:r>
            <a:r>
              <a:rPr lang="en-IN" sz="2000" dirty="0"/>
              <a:t> – noting that buy call is taken if the RSI is above 60 and the price action is above 20 moving average higher band , and an exit necessary if the price is below the 20 moving average band . </a:t>
            </a:r>
            <a:endParaRPr lang="en-US"/>
          </a:p>
          <a:p>
            <a:pPr marL="342900" indent="-342900" algn="l">
              <a:buChar char="•"/>
            </a:pPr>
            <a:r>
              <a:rPr lang="en-IN" sz="2000" dirty="0"/>
              <a:t>It designed by individual traders to visualize </a:t>
            </a:r>
            <a:r>
              <a:rPr lang="en-IN" sz="2000" i="1" u="sng" dirty="0"/>
              <a:t>overbought or oversold zones </a:t>
            </a:r>
            <a:r>
              <a:rPr lang="en-IN" sz="2000" dirty="0"/>
              <a:t>, potential reversal points , and market volatility for a specific trading strategy .</a:t>
            </a:r>
            <a:endParaRPr lang="en-US" dirty="0"/>
          </a:p>
          <a:p>
            <a:pPr marL="342900" indent="-342900" algn="l">
              <a:buChar char="•"/>
            </a:pPr>
            <a:r>
              <a:rPr lang="en-IN" sz="2000" dirty="0"/>
              <a:t> Its upper and lower bands help to identify the </a:t>
            </a:r>
            <a:r>
              <a:rPr lang="en-IN" sz="2000" b="1" i="1" dirty="0"/>
              <a:t>prevailing trend</a:t>
            </a:r>
            <a:r>
              <a:rPr lang="en-IN" sz="2000" dirty="0"/>
              <a:t> .</a:t>
            </a:r>
            <a:endParaRPr lang="en-US"/>
          </a:p>
          <a:p>
            <a:pPr marL="342900" indent="-342900" algn="l">
              <a:buChar char="•"/>
            </a:pPr>
            <a:r>
              <a:rPr lang="en-IN" sz="2000" dirty="0"/>
              <a:t> If price consistently stays above the band , it indicates a </a:t>
            </a:r>
            <a:r>
              <a:rPr lang="en-IN" sz="2000" b="1" i="1" dirty="0"/>
              <a:t>bullish trend</a:t>
            </a:r>
            <a:r>
              <a:rPr lang="en-IN" sz="2000" dirty="0"/>
              <a:t> , below suggests a</a:t>
            </a:r>
            <a:r>
              <a:rPr lang="en-IN" sz="2000" b="1" i="1" u="sng" dirty="0"/>
              <a:t> bearish trend . </a:t>
            </a:r>
            <a:endParaRPr lang="en-US" b="1" i="1" u="sng"/>
          </a:p>
          <a:p>
            <a:pPr marL="342900" indent="-342900" algn="l">
              <a:buChar char="•"/>
            </a:pPr>
            <a:r>
              <a:rPr lang="en-IN" sz="2000" dirty="0"/>
              <a:t>The bands often serve as</a:t>
            </a:r>
            <a:r>
              <a:rPr lang="en-IN" sz="2000" b="1" i="1" dirty="0"/>
              <a:t> dynamic support and resistance levels</a:t>
            </a:r>
            <a:r>
              <a:rPr lang="en-IN" sz="2000" dirty="0"/>
              <a:t> . </a:t>
            </a:r>
            <a:endParaRPr lang="en-US"/>
          </a:p>
          <a:p>
            <a:pPr marL="342900" indent="-342900" algn="l">
              <a:buChar char="•"/>
            </a:pPr>
            <a:r>
              <a:rPr lang="en-IN" sz="2000" dirty="0"/>
              <a:t>A price touching the lower band might be seen as an </a:t>
            </a:r>
            <a:r>
              <a:rPr lang="en-IN" sz="2000" b="1" i="1" dirty="0"/>
              <a:t>oversold condition</a:t>
            </a:r>
            <a:r>
              <a:rPr lang="en-IN" sz="2000" dirty="0"/>
              <a:t> ( potential buying opportunity ) while a touch of the upper band might signal an</a:t>
            </a:r>
            <a:r>
              <a:rPr lang="en-IN" sz="2000" b="1" i="1" dirty="0"/>
              <a:t> overbought condition</a:t>
            </a:r>
            <a:r>
              <a:rPr lang="en-IN" sz="2000" dirty="0"/>
              <a:t> (potential selling opportunity ) .</a:t>
            </a:r>
            <a:endParaRPr lang="en-US"/>
          </a:p>
          <a:p>
            <a:pPr marL="342900" indent="-342900" algn="l">
              <a:buChar char="•"/>
            </a:pPr>
            <a:r>
              <a:rPr lang="en-IN" sz="2000" dirty="0"/>
              <a:t> At the time of breakout support becomes resistance and resistance becomes support . </a:t>
            </a:r>
            <a:endParaRPr lang="en-US"/>
          </a:p>
          <a:p>
            <a:pPr algn="l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52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05BB6-BE4E-329A-96AC-EC3C28FC0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127" y="371688"/>
            <a:ext cx="9291215" cy="691800"/>
          </a:xfrm>
        </p:spPr>
        <p:txBody>
          <a:bodyPr>
            <a:normAutofit/>
          </a:bodyPr>
          <a:lstStyle/>
          <a:p>
            <a:r>
              <a:rPr lang="en-IN" sz="4000" cap="none">
                <a:solidFill>
                  <a:schemeClr val="tx1"/>
                </a:solidFill>
              </a:rPr>
              <a:t>Relative Strength Index (RSI)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46A6E-0EFF-059F-BEA8-FA4C5113B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48" y="1242391"/>
            <a:ext cx="10746286" cy="4734611"/>
          </a:xfrm>
        </p:spPr>
        <p:txBody>
          <a:bodyPr>
            <a:normAutofit lnSpcReduction="10000"/>
          </a:bodyPr>
          <a:lstStyle/>
          <a:p>
            <a:r>
              <a:rPr lang="en-IN" b="1" i="1" dirty="0"/>
              <a:t> Relative Strength Index</a:t>
            </a:r>
            <a:r>
              <a:rPr lang="en-IN" b="1" dirty="0"/>
              <a:t>  </a:t>
            </a:r>
            <a:r>
              <a:rPr lang="en-IN" dirty="0"/>
              <a:t>is an important indicator for determining stock views , noting that </a:t>
            </a:r>
            <a:r>
              <a:rPr lang="en-IN" b="1" i="1" dirty="0"/>
              <a:t>RSI above 60</a:t>
            </a:r>
            <a:r>
              <a:rPr lang="en-IN" dirty="0"/>
              <a:t> suggests a </a:t>
            </a:r>
            <a:r>
              <a:rPr lang="en-IN" b="1" dirty="0"/>
              <a:t>b</a:t>
            </a:r>
            <a:r>
              <a:rPr lang="en-IN" b="1" i="1" dirty="0"/>
              <a:t>ullish momentum </a:t>
            </a:r>
            <a:r>
              <a:rPr lang="en-IN" dirty="0"/>
              <a:t>for a particular stock across any frame time , while an </a:t>
            </a:r>
            <a:r>
              <a:rPr lang="en-IN" b="1" i="1" dirty="0"/>
              <a:t>RSI below 40</a:t>
            </a:r>
            <a:r>
              <a:rPr lang="en-IN" dirty="0"/>
              <a:t> indicates a </a:t>
            </a:r>
            <a:r>
              <a:rPr lang="en-IN" b="1" i="1" dirty="0"/>
              <a:t>bearish view</a:t>
            </a:r>
            <a:r>
              <a:rPr lang="en-IN" dirty="0"/>
              <a:t> and an</a:t>
            </a:r>
            <a:r>
              <a:rPr lang="en-IN" b="1" i="1" dirty="0"/>
              <a:t> RSI between 40 and 60</a:t>
            </a:r>
            <a:r>
              <a:rPr lang="en-IN" dirty="0"/>
              <a:t> signifies</a:t>
            </a:r>
            <a:r>
              <a:rPr lang="en-IN" b="1" i="1" dirty="0"/>
              <a:t> sideways trading. </a:t>
            </a:r>
            <a:endParaRPr lang="en-US" b="1" i="1"/>
          </a:p>
          <a:p>
            <a:r>
              <a:rPr lang="en-IN" dirty="0"/>
              <a:t>The traditional measure of 70 and 30 for bullish and bearish views has been replaced , if RSI goes above 60 one can take a buying decision and if it falls below 40 , a bearish view should be adopted .</a:t>
            </a:r>
          </a:p>
          <a:p>
            <a:r>
              <a:rPr lang="en-IN" dirty="0"/>
              <a:t> Traditionally , an </a:t>
            </a:r>
            <a:r>
              <a:rPr lang="en-IN" b="1" dirty="0"/>
              <a:t>RSI reading of 70 or above</a:t>
            </a:r>
            <a:r>
              <a:rPr lang="en-IN" dirty="0"/>
              <a:t> indicates an </a:t>
            </a:r>
            <a:r>
              <a:rPr lang="en-IN" b="1" i="1" dirty="0"/>
              <a:t>overbought condition</a:t>
            </a:r>
            <a:r>
              <a:rPr lang="en-IN" dirty="0"/>
              <a:t> , a </a:t>
            </a:r>
            <a:r>
              <a:rPr lang="en-IN" b="1" dirty="0"/>
              <a:t>reading of 30 or below</a:t>
            </a:r>
            <a:r>
              <a:rPr lang="en-IN" dirty="0"/>
              <a:t> indicates an </a:t>
            </a:r>
            <a:r>
              <a:rPr lang="en-IN" b="1" i="1" dirty="0"/>
              <a:t>oversold condition</a:t>
            </a:r>
            <a:r>
              <a:rPr lang="en-IN" dirty="0"/>
              <a:t> .</a:t>
            </a:r>
          </a:p>
          <a:p>
            <a:r>
              <a:rPr lang="en-IN" dirty="0"/>
              <a:t>  RSI typically measured over a </a:t>
            </a:r>
            <a:r>
              <a:rPr lang="en-IN" b="1" dirty="0"/>
              <a:t>14 day time period .</a:t>
            </a:r>
            <a:r>
              <a:rPr lang="en-IN" dirty="0"/>
              <a:t> </a:t>
            </a:r>
          </a:p>
          <a:p>
            <a:r>
              <a:rPr lang="en-IN" dirty="0"/>
              <a:t>RSI can be applied in i</a:t>
            </a:r>
            <a:r>
              <a:rPr lang="en-IN" b="1" dirty="0"/>
              <a:t>ntraday trading , swing trading , and long term investing</a:t>
            </a:r>
            <a:r>
              <a:rPr lang="en-IN" dirty="0"/>
              <a:t> , however traders can adjust the time frame and use it . </a:t>
            </a:r>
          </a:p>
        </p:txBody>
      </p:sp>
    </p:spTree>
    <p:extLst>
      <p:ext uri="{BB962C8B-B14F-4D97-AF65-F5344CB8AC3E}">
        <p14:creationId xmlns:p14="http://schemas.microsoft.com/office/powerpoint/2010/main" val="3371233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DB89-681A-444C-AE94-B0A3CE842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215" y="377688"/>
            <a:ext cx="8643154" cy="576469"/>
          </a:xfrm>
        </p:spPr>
        <p:txBody>
          <a:bodyPr>
            <a:normAutofit fontScale="90000"/>
          </a:bodyPr>
          <a:lstStyle/>
          <a:p>
            <a:r>
              <a:rPr lang="en-IN" b="1" u="sng">
                <a:solidFill>
                  <a:schemeClr val="tx1"/>
                </a:solidFill>
              </a:rPr>
              <a:t>Fibonacci</a:t>
            </a:r>
            <a:r>
              <a:rPr lang="en-IN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F4CA9-5F87-1F43-36F6-42CA04DE7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5591" y="1108309"/>
            <a:ext cx="11451146" cy="4654900"/>
          </a:xfrm>
        </p:spPr>
        <p:txBody>
          <a:bodyPr vert="horz" lIns="91440" tIns="91440" rIns="91440" bIns="45720" rtlCol="0" anchor="t">
            <a:normAutofit lnSpcReduction="10000"/>
          </a:bodyPr>
          <a:lstStyle/>
          <a:p>
            <a:pPr marL="285750" indent="-285750" algn="l">
              <a:buChar char="•"/>
            </a:pPr>
            <a:r>
              <a:rPr lang="en-IN" sz="2000" b="1" i="1"/>
              <a:t>Fibonacci Extension</a:t>
            </a:r>
            <a:r>
              <a:rPr lang="en-IN" sz="2000" b="1" dirty="0"/>
              <a:t> </a:t>
            </a:r>
            <a:r>
              <a:rPr lang="en-IN" sz="2000"/>
              <a:t>indicator is a technical analysis</a:t>
            </a:r>
            <a:r>
              <a:rPr lang="en-US" sz="2000"/>
              <a:t>is tool used by traders to project potential future price targets or areas of support and resistance, beyond the initial price movement (trend). </a:t>
            </a:r>
            <a:endParaRPr lang="en-IN" sz="2000"/>
          </a:p>
          <a:p>
            <a:pPr marL="285750" indent="-285750" algn="l">
              <a:buChar char="•"/>
            </a:pPr>
            <a:r>
              <a:rPr lang="en-US" sz="2000"/>
              <a:t>Fibonacci retracement on intraday for an uptrend, a shallower retracement, particularly at the 38.2% level , suggests a higher probability of the trend continuing upward . Therefore, first retracement at 38.2% is crucial for trend intactness, while the golden ratio at 61.8% could indicate a reversal, and advised checking the risk reward ratio for 1-2 hours before considering a 30-40% exit and setting a final buying target at 20%.</a:t>
            </a:r>
            <a:endParaRPr lang="en-IN" sz="2000"/>
          </a:p>
          <a:p>
            <a:pPr marL="285750" indent="-285750" algn="l">
              <a:buChar char="•"/>
            </a:pPr>
            <a:r>
              <a:rPr lang="en-US" sz="2000"/>
              <a:t>  A shallow pullback to the </a:t>
            </a:r>
            <a:r>
              <a:rPr lang="en-US" sz="2000" b="1"/>
              <a:t>38.2 % level suggests</a:t>
            </a:r>
            <a:r>
              <a:rPr lang="en-US" sz="2000"/>
              <a:t> that the </a:t>
            </a:r>
            <a:r>
              <a:rPr lang="en-US" sz="2000" b="1" i="1"/>
              <a:t>existing trend is strong and momentum is high.</a:t>
            </a:r>
            <a:endParaRPr lang="en-IN" sz="2000" b="1" i="1"/>
          </a:p>
          <a:p>
            <a:pPr marL="285750" indent="-285750" algn="l">
              <a:buChar char="•"/>
            </a:pPr>
            <a:r>
              <a:rPr lang="en-US" sz="2000"/>
              <a:t>Fibonacci is most effective when used in </a:t>
            </a:r>
            <a:r>
              <a:rPr lang="en-US" sz="2000" u="sng"/>
              <a:t>combination </a:t>
            </a:r>
            <a:r>
              <a:rPr lang="en-US" sz="2000"/>
              <a:t>with other technical analysis tools (i.e. support and resistance zones , moving averages , volume analysis ) for confirmation . 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758868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A1EE-5370-941F-326D-B286AD0DC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14" y="1136"/>
            <a:ext cx="9293577" cy="1059305"/>
          </a:xfrm>
        </p:spPr>
        <p:txBody>
          <a:bodyPr>
            <a:normAutofit/>
          </a:bodyPr>
          <a:lstStyle/>
          <a:p>
            <a:pPr algn="l"/>
            <a:r>
              <a:rPr lang="en-US" b="1"/>
              <a:t> reliance power </a:t>
            </a:r>
          </a:p>
        </p:txBody>
      </p:sp>
      <p:pic>
        <p:nvPicPr>
          <p:cNvPr id="16" name="Content Placeholder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B5F376-D623-E843-E842-80B5BB0867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34605" t="20480" r="4076" b="13798"/>
          <a:stretch>
            <a:fillRect/>
          </a:stretch>
        </p:blipFill>
        <p:spPr>
          <a:xfrm>
            <a:off x="591" y="920644"/>
            <a:ext cx="7382183" cy="4800707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9365227-127A-C3DC-392B-20F92C40F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6155" y="925490"/>
            <a:ext cx="4488654" cy="480849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Magic Band :</a:t>
            </a:r>
            <a:r>
              <a:rPr lang="en-US">
                <a:solidFill>
                  <a:schemeClr val="accent3">
                    <a:lumMod val="60000"/>
                    <a:lumOff val="40000"/>
                  </a:schemeClr>
                </a:solidFill>
              </a:rPr>
              <a:t> Massive bullish candle confirmed Bullish Breakout as Price was above Magic band.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RSI Confirmation : </a:t>
            </a:r>
            <a:r>
              <a:rPr lang="en-US">
                <a:solidFill>
                  <a:schemeClr val="accent3">
                    <a:lumMod val="60000"/>
                    <a:lumOff val="40000"/>
                  </a:schemeClr>
                </a:solidFill>
              </a:rPr>
              <a:t>It was above 60 during bullish breakout but fell to 37 indicating oversold.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Fibonacci Structure: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5"/>
                </a:solidFill>
              </a:rPr>
              <a:t>HIgh: 38.51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0000"/>
                </a:solidFill>
              </a:rPr>
              <a:t>Low: 37.74</a:t>
            </a:r>
            <a:endParaRPr lang="en-US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Marks: 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Entry –  36.65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Stop Loss – 36.62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Stop Loss – 0.618 Fib [ 38.65]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Target 2 – 0.786 Fib [38.90]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endParaRPr lang="en-US">
              <a:solidFill>
                <a:srgbClr val="9ADABE"/>
              </a:solidFill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endParaRPr lang="en-US">
              <a:solidFill>
                <a:srgbClr val="9ADABE"/>
              </a:solidFill>
            </a:endParaRPr>
          </a:p>
          <a:p>
            <a:pPr marL="457200" indent="-457200">
              <a:buAutoNum type="arabicPeriod"/>
            </a:pPr>
            <a:endParaRPr 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608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56FE-DE18-72B7-3109-F2F3D77B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07E0-64F5-80A0-9789-F286C137A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14" y="1136"/>
            <a:ext cx="9293577" cy="1059305"/>
          </a:xfrm>
        </p:spPr>
        <p:txBody>
          <a:bodyPr>
            <a:normAutofit/>
          </a:bodyPr>
          <a:lstStyle/>
          <a:p>
            <a:pPr algn="l"/>
            <a:r>
              <a:rPr lang="en-US" b="1"/>
              <a:t>  ETERNAL (ZOMATO)</a:t>
            </a:r>
            <a:r>
              <a:rPr lang="en-US" dirty="0"/>
              <a:t> </a:t>
            </a:r>
          </a:p>
        </p:txBody>
      </p:sp>
      <p:pic>
        <p:nvPicPr>
          <p:cNvPr id="16" name="Content Placeholder 15" descr="A screenshot of a graph&#10;&#10;AI-generated content may be incorrect.">
            <a:extLst>
              <a:ext uri="{FF2B5EF4-FFF2-40B4-BE49-F238E27FC236}">
                <a16:creationId xmlns:a16="http://schemas.microsoft.com/office/drawing/2014/main" id="{C70BFE07-658B-E915-FEDE-AC59CA6AB9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6234" r="16234"/>
          <a:stretch>
            <a:fillRect/>
          </a:stretch>
        </p:blipFill>
        <p:spPr>
          <a:xfrm>
            <a:off x="112650" y="922138"/>
            <a:ext cx="7380451" cy="5219696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AC073B4-6A78-0865-3B28-A98A20D91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6155" y="925490"/>
            <a:ext cx="4488654" cy="480849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Magic Band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>
                <a:solidFill>
                  <a:schemeClr val="accent3">
                    <a:lumMod val="60000"/>
                    <a:lumOff val="40000"/>
                  </a:schemeClr>
                </a:solidFill>
              </a:rPr>
              <a:t>: Massive bullish candle confirmed Bullish Breakout as Price was above Magic band.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RSI Confirmation :</a:t>
            </a:r>
            <a:r>
              <a:rPr lang="en-US">
                <a:solidFill>
                  <a:schemeClr val="accent3">
                    <a:lumMod val="60000"/>
                    <a:lumOff val="40000"/>
                  </a:schemeClr>
                </a:solidFill>
              </a:rPr>
              <a:t> It was above 60 during bullish breakout but fell to 37 indicating oversold.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Fibonacci Structure: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B050"/>
                </a:solidFill>
              </a:rPr>
              <a:t>High: 284.02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0000"/>
                </a:solidFill>
              </a:rPr>
              <a:t>Low: 282.93</a:t>
            </a:r>
            <a:endParaRPr lang="en-US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Marks: 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Entry – 283.75 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Stop Loss – 283.67 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Target 1 – 0.618 Fib [ 282.56 ]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Target 2 – 0.786 Fib [ 281.98 ]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endParaRPr lang="en-US">
              <a:solidFill>
                <a:srgbClr val="9ADABE"/>
              </a:solidFill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endParaRPr lang="en-US">
              <a:solidFill>
                <a:srgbClr val="9ADABE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520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06E4-FDF5-D41A-C494-016A8D9B7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032" y="132739"/>
            <a:ext cx="8643154" cy="721094"/>
          </a:xfrm>
        </p:spPr>
        <p:txBody>
          <a:bodyPr>
            <a:normAutofit/>
          </a:bodyPr>
          <a:lstStyle/>
          <a:p>
            <a:r>
              <a:rPr lang="en-IN" sz="3600" b="1" u="sng">
                <a:solidFill>
                  <a:schemeClr val="tx1"/>
                </a:solidFill>
              </a:rPr>
              <a:t>Entry , exit , stop loss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DE7DC-F416-D5A8-1CE1-08D0A9BD8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836" y="1118877"/>
            <a:ext cx="10850711" cy="4686363"/>
          </a:xfrm>
        </p:spPr>
        <p:txBody>
          <a:bodyPr vert="horz" lIns="91440" tIns="91440" rIns="91440" bIns="45720" rtlCol="0" anchor="t">
            <a:normAutofit/>
          </a:bodyPr>
          <a:lstStyle/>
          <a:p>
            <a:pPr marL="285750" indent="-285750" algn="l">
              <a:buChar char="•"/>
            </a:pPr>
            <a:r>
              <a:rPr lang="en-US" sz="2000" b="1"/>
              <a:t>ENTRY</a:t>
            </a:r>
            <a:r>
              <a:rPr lang="en-US" sz="2000" b="1" dirty="0">
                <a:solidFill>
                  <a:srgbClr val="FF0000"/>
                </a:solidFill>
              </a:rPr>
              <a:t>  </a:t>
            </a:r>
            <a:r>
              <a:rPr lang="en-US" sz="2000" b="1"/>
              <a:t>:</a:t>
            </a:r>
            <a:r>
              <a:rPr lang="en-US" sz="2000" b="1" dirty="0">
                <a:solidFill>
                  <a:srgbClr val="FF0000"/>
                </a:solidFill>
              </a:rPr>
              <a:t> </a:t>
            </a:r>
            <a:r>
              <a:rPr lang="en-US" sz="2000" b="1"/>
              <a:t>S</a:t>
            </a:r>
            <a:r>
              <a:rPr lang="en-US" sz="2000" b="1">
                <a:solidFill>
                  <a:srgbClr val="FFFFFF"/>
                </a:solidFill>
              </a:rPr>
              <a:t>upport</a:t>
            </a:r>
            <a:r>
              <a:rPr lang="en-US" sz="2000" b="1"/>
              <a:t> &amp; Resistance </a:t>
            </a:r>
            <a:r>
              <a:rPr lang="en-US" sz="2000"/>
              <a:t>– enter near a support level ,  </a:t>
            </a:r>
            <a:r>
              <a:rPr lang="en-US" sz="2000" b="1"/>
              <a:t>pullback </a:t>
            </a:r>
            <a:r>
              <a:rPr lang="en-US" sz="2000"/>
              <a:t>– in an uptrend , wait for a minor drop to a fibonacci retracement level befpre entering (i.e. 38.2 %  or 61.8% ) ,</a:t>
            </a:r>
            <a:r>
              <a:rPr lang="en-US" sz="2000" b="1"/>
              <a:t> RSI  - </a:t>
            </a:r>
            <a:r>
              <a:rPr lang="en-US" sz="2000"/>
              <a:t>RSI is above 60 .</a:t>
            </a:r>
          </a:p>
          <a:p>
            <a:pPr marL="285750" indent="-285750" algn="l">
              <a:buChar char="•"/>
            </a:pPr>
            <a:r>
              <a:rPr lang="en-US" sz="2000" b="1"/>
              <a:t>STOP LOSS </a:t>
            </a:r>
            <a:r>
              <a:rPr lang="en-US" sz="2000"/>
              <a:t>: If the price drops below a key support level or your entry signal is </a:t>
            </a:r>
            <a:r>
              <a:rPr lang="en-US" sz="2000" u="sng"/>
              <a:t>invalidated</a:t>
            </a:r>
            <a:r>
              <a:rPr lang="en-US" sz="2000"/>
              <a:t> ,</a:t>
            </a:r>
            <a:r>
              <a:rPr lang="en-US" sz="2000" b="1" i="1"/>
              <a:t> exit immediately to cut your losses </a:t>
            </a:r>
            <a:r>
              <a:rPr lang="en-US" sz="2000"/>
              <a:t>. In short , stop loss should be set below the low of the pervious candle , and that candle should have a big body . </a:t>
            </a:r>
          </a:p>
          <a:p>
            <a:pPr marL="285750" indent="-285750" algn="l">
              <a:buChar char="•"/>
            </a:pPr>
            <a:r>
              <a:rPr lang="en-US" sz="2000" b="1"/>
              <a:t>TARGET / EXIT</a:t>
            </a:r>
            <a:r>
              <a:rPr lang="en-US" sz="2000"/>
              <a:t> : Fibonacci Extensions help you predict how high a stock will go after it has finished its pullback . Minor resistance – 0.618 (61.8%) , the golden target 1.618(1.618%) [primary target].  Exit when the price reaches your predetermined fibonacci extension target , price starts falling after a strong uptrend . Therfore exit is a part of </a:t>
            </a:r>
            <a:r>
              <a:rPr lang="en-US" sz="2000" i="1"/>
              <a:t>smart investing strategy</a:t>
            </a:r>
            <a:r>
              <a:rPr lang="en-US" sz="2000"/>
              <a:t> rather than </a:t>
            </a:r>
            <a:r>
              <a:rPr lang="en-US" sz="2000" i="1"/>
              <a:t>emotional decisions . </a:t>
            </a:r>
          </a:p>
          <a:p>
            <a:pPr marL="285750" indent="-285750" algn="l">
              <a:buChar char="•"/>
            </a:pPr>
            <a:endParaRPr lang="en-US" sz="2000" i="1"/>
          </a:p>
          <a:p>
            <a:pPr marL="285750" indent="-285750" algn="l">
              <a:buChar char="•"/>
            </a:pPr>
            <a:endParaRPr lang="en-US" sz="2000"/>
          </a:p>
          <a:p>
            <a:pPr marL="285750" indent="-285750" algn="l"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56277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2FC7-9E17-43D9-497D-182AC957C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-1024"/>
            <a:ext cx="9291215" cy="586959"/>
          </a:xfrm>
        </p:spPr>
        <p:txBody>
          <a:bodyPr/>
          <a:lstStyle/>
          <a:p>
            <a:r>
              <a:rPr lang="en-IN" b="1">
                <a:solidFill>
                  <a:schemeClr val="tx1"/>
                </a:solidFill>
              </a:rPr>
              <a:t>conclusion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296511-210D-FEFC-9EEA-1D62063FE5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6960546"/>
              </p:ext>
            </p:extLst>
          </p:nvPr>
        </p:nvGraphicFramePr>
        <p:xfrm>
          <a:off x="157316" y="585936"/>
          <a:ext cx="11867536" cy="543172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844413">
                  <a:extLst>
                    <a:ext uri="{9D8B030D-6E8A-4147-A177-3AD203B41FA5}">
                      <a16:colId xmlns:a16="http://schemas.microsoft.com/office/drawing/2014/main" val="2196222692"/>
                    </a:ext>
                  </a:extLst>
                </a:gridCol>
                <a:gridCol w="4098223">
                  <a:extLst>
                    <a:ext uri="{9D8B030D-6E8A-4147-A177-3AD203B41FA5}">
                      <a16:colId xmlns:a16="http://schemas.microsoft.com/office/drawing/2014/main" val="1308359839"/>
                    </a:ext>
                  </a:extLst>
                </a:gridCol>
                <a:gridCol w="3924900">
                  <a:extLst>
                    <a:ext uri="{9D8B030D-6E8A-4147-A177-3AD203B41FA5}">
                      <a16:colId xmlns:a16="http://schemas.microsoft.com/office/drawing/2014/main" val="4230389026"/>
                    </a:ext>
                  </a:extLst>
                </a:gridCol>
              </a:tblGrid>
              <a:tr h="622002">
                <a:tc>
                  <a:txBody>
                    <a:bodyPr/>
                    <a:lstStyle/>
                    <a:p>
                      <a:pPr marL="342900" indent="-342900" algn="l">
                        <a:buAutoNum type="arabicPeriod"/>
                      </a:pPr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Effectiveness of the combined strategy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2. Observations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3. Learning outcomes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6164520"/>
                  </a:ext>
                </a:extLst>
              </a:tr>
              <a:tr h="1688290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Magic Band successfully identified the trend direction, while RSI's </a:t>
                      </a:r>
                      <a:r>
                        <a:rPr lang="en-US" b="1" dirty="0"/>
                        <a:t>40-60 strategy</a:t>
                      </a:r>
                      <a:r>
                        <a:rPr lang="en-US" dirty="0"/>
                        <a:t> confirmed entry strength.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Reliance Power: There was a breakout but RSI failed to keep above 60 and declined to 37. However, Magic Band did work and a massive bullish candle confirmed Magic Band.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After observation I learned that using signals like </a:t>
                      </a:r>
                      <a:r>
                        <a:rPr lang="en-US" b="1" i="1" dirty="0"/>
                        <a:t>Magic Band + RSI + Fibonacci Extension</a:t>
                      </a:r>
                      <a:r>
                        <a:rPr lang="en-US" dirty="0"/>
                        <a:t> together is</a:t>
                      </a:r>
                      <a:r>
                        <a:rPr lang="en-US" b="1" u="sng" dirty="0"/>
                        <a:t> more reliable than</a:t>
                      </a:r>
                      <a:r>
                        <a:rPr lang="en-US" dirty="0"/>
                        <a:t> </a:t>
                      </a:r>
                      <a:r>
                        <a:rPr lang="en-US" b="1" u="sng"/>
                        <a:t>using single signal/indicator.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9564718"/>
                  </a:ext>
                </a:extLst>
              </a:tr>
              <a:tr h="1421718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By using RSI and Magic Band combined, it reduced </a:t>
                      </a:r>
                      <a:r>
                        <a:rPr lang="en-US" b="1" dirty="0"/>
                        <a:t>false signals</a:t>
                      </a:r>
                      <a:r>
                        <a:rPr lang="en-US" dirty="0"/>
                        <a:t> by ensuring price and momentum before entry.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Eternal [Zomato]: There was a big bullish candel which confirmed the Magic Band momentum. RSI did </a:t>
                      </a:r>
                      <a:r>
                        <a:rPr lang="en-US" dirty="0" err="1"/>
                        <a:t>rised</a:t>
                      </a:r>
                      <a:r>
                        <a:rPr lang="en-US" dirty="0"/>
                        <a:t> but declined afterwards.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Setting stop loss </a:t>
                      </a:r>
                      <a:r>
                        <a:rPr lang="en-US" u="sng" dirty="0"/>
                        <a:t>to avoid more losses or for capital protection</a:t>
                      </a:r>
                      <a:r>
                        <a:rPr lang="en-US" dirty="0"/>
                        <a:t> which is </a:t>
                      </a:r>
                      <a:r>
                        <a:rPr lang="en-US" b="1" dirty="0"/>
                        <a:t>necessary</a:t>
                      </a:r>
                      <a:r>
                        <a:rPr lang="en-US" dirty="0"/>
                        <a:t>. It should be set on the low of previous candel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8362618"/>
                  </a:ext>
                </a:extLst>
              </a:tr>
              <a:tr h="1591242"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dirty="0"/>
                        <a:t>Fibonacci extension provided high probability [0.618 &amp; 0.786 ] for both the stocks named </a:t>
                      </a:r>
                      <a:r>
                        <a:rPr lang="en-US" b="0" i="1" dirty="0"/>
                        <a:t>Reliance Power and Eternal [Zomato]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dirty="0"/>
                        <a:t>Both stocks shows that Price respected Magic Band acted as structural floor during the initial phases of brreakout.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dirty="0"/>
                        <a:t>With this I also learned about various strategies and about indicators which are to be viewed before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 entry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en-US" dirty="0"/>
                        <a:t>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exit. 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74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065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51BFA3-D04F-7A01-ABC3-6D6440068B4C}"/>
              </a:ext>
            </a:extLst>
          </p:cNvPr>
          <p:cNvSpPr/>
          <p:nvPr/>
        </p:nvSpPr>
        <p:spPr>
          <a:xfrm>
            <a:off x="2698274" y="2644170"/>
            <a:ext cx="679545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3238608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46</TotalTime>
  <Words>1055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Angsana New</vt:lpstr>
      <vt:lpstr>AngsanaUPC</vt:lpstr>
      <vt:lpstr>Aptos</vt:lpstr>
      <vt:lpstr>Arial</vt:lpstr>
      <vt:lpstr>Courier New</vt:lpstr>
      <vt:lpstr>Rockwell</vt:lpstr>
      <vt:lpstr>Gallery</vt:lpstr>
      <vt:lpstr>TRADING Strategy </vt:lpstr>
      <vt:lpstr>STRATEGY INTRODUCTION  magic band  </vt:lpstr>
      <vt:lpstr>Relative Strength Index (RSI) </vt:lpstr>
      <vt:lpstr>Fibonacci </vt:lpstr>
      <vt:lpstr> reliance power </vt:lpstr>
      <vt:lpstr>  ETERNAL (ZOMATO) </vt:lpstr>
      <vt:lpstr>Entry , exit , stop loss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Bhaswati Koley</dc:creator>
  <cp:lastModifiedBy>Hardik Das</cp:lastModifiedBy>
  <cp:revision>86</cp:revision>
  <dcterms:created xsi:type="dcterms:W3CDTF">2025-12-25T14:28:46Z</dcterms:created>
  <dcterms:modified xsi:type="dcterms:W3CDTF">2025-12-31T09:55:40Z</dcterms:modified>
</cp:coreProperties>
</file>