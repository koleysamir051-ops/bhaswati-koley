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2" r:id="rId1"/>
  </p:sld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454EFC-D591-4AB9-9CDF-DAF884597594}" v="34" dt="2025-12-28T08:14:14.3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aswati Koley" userId="f3c14a297dfb6884" providerId="LiveId" clId="{1BD93855-5956-428F-B1E3-ED6AC5BCB912}"/>
    <pc:docChg chg="custSel modSld">
      <pc:chgData name="Bhaswati Koley" userId="f3c14a297dfb6884" providerId="LiveId" clId="{1BD93855-5956-428F-B1E3-ED6AC5BCB912}" dt="2025-12-31T14:16:33.174" v="222" actId="403"/>
      <pc:docMkLst>
        <pc:docMk/>
      </pc:docMkLst>
      <pc:sldChg chg="modSp mod">
        <pc:chgData name="Bhaswati Koley" userId="f3c14a297dfb6884" providerId="LiveId" clId="{1BD93855-5956-428F-B1E3-ED6AC5BCB912}" dt="2025-12-31T14:16:33.174" v="222" actId="403"/>
        <pc:sldMkLst>
          <pc:docMk/>
          <pc:sldMk cId="4196264343" sldId="262"/>
        </pc:sldMkLst>
        <pc:spChg chg="mod">
          <ac:chgData name="Bhaswati Koley" userId="f3c14a297dfb6884" providerId="LiveId" clId="{1BD93855-5956-428F-B1E3-ED6AC5BCB912}" dt="2025-12-31T14:16:33.174" v="222" actId="403"/>
          <ac:spMkLst>
            <pc:docMk/>
            <pc:sldMk cId="4196264343" sldId="262"/>
            <ac:spMk id="3" creationId="{E0E4AD86-F228-AE9F-CD1D-1673C2767F7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4423" y="802298"/>
            <a:ext cx="8637073" cy="2920713"/>
          </a:xfrm>
        </p:spPr>
        <p:txBody>
          <a:bodyPr bIns="0" anchor="b">
            <a:normAutofit/>
          </a:bodyPr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74424" y="3724074"/>
            <a:ext cx="8637072" cy="977621"/>
          </a:xfrm>
        </p:spPr>
        <p:txBody>
          <a:bodyPr tIns="91440" bIns="91440">
            <a:normAutofit/>
          </a:bodyPr>
          <a:lstStyle>
            <a:lvl1pPr marL="0" indent="0" algn="ctr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F6F86-A9AC-4307-BB33-18F4D7F346B6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1579" y="329307"/>
            <a:ext cx="5626774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76834" y="798973"/>
            <a:ext cx="811019" cy="503578"/>
          </a:xfrm>
        </p:spPr>
        <p:txBody>
          <a:bodyPr/>
          <a:lstStyle/>
          <a:p>
            <a:fld id="{A63037A4-7DBB-4D1C-9C8E-47A9B7D0AB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1764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F6F86-A9AC-4307-BB33-18F4D7F346B6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037A4-7DBB-4D1C-9C8E-47A9B7D0AB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7610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4423" y="1756130"/>
            <a:ext cx="8643154" cy="196900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4423" y="3725137"/>
            <a:ext cx="8643154" cy="1093987"/>
          </a:xfrm>
        </p:spPr>
        <p:txBody>
          <a:bodyPr tIns="91440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F6F86-A9AC-4307-BB33-18F4D7F346B6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037A4-7DBB-4D1C-9C8E-47A9B7D0AB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3244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293577" cy="105930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488654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54140" y="2017343"/>
            <a:ext cx="4488654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F6F86-A9AC-4307-BB33-18F4D7F346B6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037A4-7DBB-4D1C-9C8E-47A9B7D0AB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775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295603" cy="10563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488794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488794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56025" y="2023003"/>
            <a:ext cx="4488794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56025" y="2821491"/>
            <a:ext cx="4488794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F6F86-A9AC-4307-BB33-18F4D7F346B6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037A4-7DBB-4D1C-9C8E-47A9B7D0AB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70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F6F86-A9AC-4307-BB33-18F4D7F346B6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037A4-7DBB-4D1C-9C8E-47A9B7D0AB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4673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F6F86-A9AC-4307-BB33-18F4D7F346B6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037A4-7DBB-4D1C-9C8E-47A9B7D0AB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3981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2961967" cy="2406518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032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2961967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F6F86-A9AC-4307-BB33-18F4D7F346B6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037A4-7DBB-4D1C-9C8E-47A9B7D0AB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1068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blipFill dpi="0" rotWithShape="1">
              <a:blip r:embed="rId2">
                <a:alphaModFix amt="30000"/>
              </a:blip>
              <a:srcRect/>
              <a:tile tx="0" ty="0" sx="100000" sy="100000" flip="none" algn="ctr"/>
            </a:blip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extrusionH="76200" contourW="12700" prstMaterial="matte">
              <a:bevelT w="152400" h="50800" prst="softRound"/>
              <a:extrusionClr>
                <a:schemeClr val="tx2"/>
              </a:extrusionClr>
              <a:contourClr>
                <a:schemeClr val="bg2"/>
              </a:contour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38100" cmpd="sng">
              <a:solidFill>
                <a:schemeClr val="tx2">
                  <a:lumMod val="25000"/>
                </a:schemeClr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2"/>
            <a:ext cx="5532328" cy="1922299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50000"/>
              <a:lumOff val="50000"/>
              <a:alpha val="80000"/>
            </a:schemeClr>
          </a:solidFill>
          <a:ln w="9525" cap="sq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dirty="0"/>
            </a:lvl1pPr>
          </a:lstStyle>
          <a:p>
            <a:pPr lvl="0" algn="ctr"/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059600"/>
            <a:ext cx="5524404" cy="2090134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69FF6F86-A9AC-4307-BB33-18F4D7F346B6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037A4-7DBB-4D1C-9C8E-47A9B7D0AB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9939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F6F86-A9AC-4307-BB33-18F4D7F346B6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037A4-7DBB-4D1C-9C8E-47A9B7D0AB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6145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7052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518654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F6F86-A9AC-4307-BB33-18F4D7F346B6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037A4-7DBB-4D1C-9C8E-47A9B7D0AB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402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291215" cy="10492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29121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42079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FF6F86-A9AC-4307-BB33-18F4D7F346B6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62677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A63037A4-7DBB-4D1C-9C8E-47A9B7D0AB4D}" type="slidenum">
              <a:rPr lang="en-IN" smtClean="0"/>
              <a:t>‹#›</a:t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0" y="3622291"/>
            <a:ext cx="12192000" cy="250598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29338"/>
            <a:ext cx="12192000" cy="742950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0" y="6138142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161392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0E9C0-B5E7-CED9-8A6A-0AF0896B57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01212"/>
            <a:ext cx="8637073" cy="1717230"/>
          </a:xfrm>
        </p:spPr>
        <p:txBody>
          <a:bodyPr>
            <a:normAutofit/>
          </a:bodyPr>
          <a:lstStyle/>
          <a:p>
            <a:r>
              <a:rPr lang="en-IN" sz="5400" b="1" dirty="0">
                <a:solidFill>
                  <a:schemeClr val="tx1"/>
                </a:solidFill>
              </a:rPr>
              <a:t>RISK MANAGEMENT USING RPT &amp; RPS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99549E-C1E8-FB7A-32C1-2291681ADD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17676" y="5130087"/>
            <a:ext cx="3574324" cy="977621"/>
          </a:xfrm>
        </p:spPr>
        <p:txBody>
          <a:bodyPr vert="horz" lIns="91440" tIns="91440" rIns="91440" bIns="91440" rtlCol="0" anchor="t">
            <a:normAutofit/>
          </a:bodyPr>
          <a:lstStyle/>
          <a:p>
            <a:r>
              <a:rPr lang="en-IN" sz="3600" cap="none" dirty="0">
                <a:latin typeface="Angsana New" panose="02020603050405020304" pitchFamily="18" charset="-34"/>
                <a:cs typeface="Angsana New" panose="02020603050405020304" pitchFamily="18" charset="-34"/>
              </a:rPr>
              <a:t>By :  Bhaswati Koley</a:t>
            </a:r>
          </a:p>
        </p:txBody>
      </p:sp>
    </p:spTree>
    <p:extLst>
      <p:ext uri="{BB962C8B-B14F-4D97-AF65-F5344CB8AC3E}">
        <p14:creationId xmlns:p14="http://schemas.microsoft.com/office/powerpoint/2010/main" val="3439589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18AA3-758D-8158-D42D-486914BC99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7463" y="295402"/>
            <a:ext cx="8637073" cy="648815"/>
          </a:xfrm>
        </p:spPr>
        <p:txBody>
          <a:bodyPr>
            <a:normAutofit/>
          </a:bodyPr>
          <a:lstStyle/>
          <a:p>
            <a:r>
              <a:rPr lang="en-IN" sz="4000" b="1" u="sng">
                <a:solidFill>
                  <a:schemeClr val="tx1"/>
                </a:solidFill>
              </a:rPr>
              <a:t>PROJECT OVERVIEW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2FF227-0186-F7D6-3BCE-BE3E5C8CA8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5070" y="1351722"/>
            <a:ext cx="10585173" cy="4124739"/>
          </a:xfrm>
        </p:spPr>
        <p:txBody>
          <a:bodyPr vert="horz" lIns="91440" tIns="91440" rIns="91440" bIns="91440" rtlCol="0" anchor="t">
            <a:normAutofit/>
          </a:bodyPr>
          <a:lstStyle/>
          <a:p>
            <a:pPr algn="l"/>
            <a:r>
              <a:rPr lang="en-IN" sz="2000" b="1" cap="none" dirty="0">
                <a:solidFill>
                  <a:schemeClr val="accent1"/>
                </a:solidFill>
              </a:rPr>
              <a:t>Project statement </a:t>
            </a:r>
            <a:r>
              <a:rPr lang="en-IN" sz="2000" cap="none" dirty="0">
                <a:solidFill>
                  <a:schemeClr val="accent1"/>
                </a:solidFill>
              </a:rPr>
              <a:t>: </a:t>
            </a:r>
            <a:r>
              <a:rPr lang="en-IN" sz="2000" cap="none" dirty="0"/>
              <a:t>Risk Management </a:t>
            </a:r>
          </a:p>
          <a:p>
            <a:pPr algn="l"/>
            <a:r>
              <a:rPr lang="en-IN" sz="2000" cap="none" dirty="0"/>
              <a:t>Using </a:t>
            </a:r>
            <a:r>
              <a:rPr lang="en-IN" sz="2000" i="1" cap="none" dirty="0"/>
              <a:t>RPT ( Risk Probability Table ) &amp; RPS ( Risk Priority Score ) </a:t>
            </a:r>
          </a:p>
          <a:p>
            <a:pPr algn="l"/>
            <a:r>
              <a:rPr lang="en-IN" sz="2000" cap="none" dirty="0"/>
              <a:t> </a:t>
            </a:r>
            <a:r>
              <a:rPr lang="en-IN" sz="2000" b="1" cap="none" dirty="0">
                <a:solidFill>
                  <a:schemeClr val="accent1"/>
                </a:solidFill>
              </a:rPr>
              <a:t>Objective : </a:t>
            </a:r>
            <a:r>
              <a:rPr lang="en-IN" sz="2000" cap="none" dirty="0"/>
              <a:t>To understand and quantify risks by using calculations to determine : </a:t>
            </a:r>
          </a:p>
          <a:p>
            <a:pPr algn="l"/>
            <a:r>
              <a:rPr lang="en-IN" sz="2000" b="1" cap="none" dirty="0"/>
              <a:t>     </a:t>
            </a:r>
            <a:r>
              <a:rPr lang="en-IN" sz="2000" cap="none" dirty="0"/>
              <a:t> The Likelihood of a risk occurring ( RPT) </a:t>
            </a:r>
          </a:p>
          <a:p>
            <a:pPr algn="l"/>
            <a:r>
              <a:rPr lang="en-IN" sz="2000" b="1" cap="none" dirty="0"/>
              <a:t>    </a:t>
            </a:r>
            <a:r>
              <a:rPr lang="en-IN" sz="2000" cap="none" dirty="0"/>
              <a:t>  The overall seriousness or priority of the risk ( RPS) </a:t>
            </a:r>
          </a:p>
          <a:p>
            <a:pPr algn="l"/>
            <a:r>
              <a:rPr lang="en-IN" sz="2000" b="1" cap="none" dirty="0">
                <a:solidFill>
                  <a:schemeClr val="accent1"/>
                </a:solidFill>
              </a:rPr>
              <a:t>Goal : </a:t>
            </a:r>
            <a:endParaRPr lang="en-IN" sz="2000" cap="none" dirty="0">
              <a:solidFill>
                <a:schemeClr val="accent1"/>
              </a:solidFill>
            </a:endParaRPr>
          </a:p>
          <a:p>
            <a:pPr algn="l"/>
            <a:r>
              <a:rPr lang="en-IN" sz="2000" b="1" cap="none" dirty="0"/>
              <a:t> </a:t>
            </a:r>
            <a:r>
              <a:rPr lang="en-IN" sz="2000" cap="none" dirty="0"/>
              <a:t>To gain a practical understanding of how organisations use basic scoring models to manage and prioritize risks effectively . </a:t>
            </a:r>
            <a:endParaRPr lang="en-IN" sz="2000" b="1" cap="none" dirty="0"/>
          </a:p>
        </p:txBody>
      </p:sp>
    </p:spTree>
    <p:extLst>
      <p:ext uri="{BB962C8B-B14F-4D97-AF65-F5344CB8AC3E}">
        <p14:creationId xmlns:p14="http://schemas.microsoft.com/office/powerpoint/2010/main" val="28846282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9990E-7CF2-A796-FE00-BD984EFBD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423" y="305017"/>
            <a:ext cx="8643154" cy="1175913"/>
          </a:xfrm>
        </p:spPr>
        <p:txBody>
          <a:bodyPr>
            <a:normAutofit/>
          </a:bodyPr>
          <a:lstStyle/>
          <a:p>
            <a:r>
              <a:rPr lang="en-IN" b="1" u="sng">
                <a:solidFill>
                  <a:schemeClr val="tx1"/>
                </a:solidFill>
              </a:rPr>
              <a:t>Effective Risk Management in Stock Trading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909BFF-0DEC-A4F3-72BF-5614EB75D6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52938" y="1610139"/>
            <a:ext cx="10048461" cy="4023176"/>
          </a:xfrm>
        </p:spPr>
        <p:txBody>
          <a:bodyPr vert="horz" lIns="91440" tIns="91440" rIns="91440" bIns="45720" rtlCol="0" anchor="t">
            <a:normAutofit/>
          </a:bodyPr>
          <a:lstStyle/>
          <a:p>
            <a:pPr marL="285750" indent="-285750" algn="l">
              <a:buChar char="•"/>
            </a:pPr>
            <a:r>
              <a:rPr lang="en-IN" dirty="0"/>
              <a:t> </a:t>
            </a:r>
            <a:r>
              <a:rPr lang="en-US" sz="2400" dirty="0"/>
              <a:t>Risk management is an essential strategy in stock trading focused on </a:t>
            </a:r>
            <a:r>
              <a:rPr lang="en-US" sz="2400" b="1" i="1" dirty="0"/>
              <a:t>protecting capital and limiting potential losses</a:t>
            </a:r>
            <a:r>
              <a:rPr lang="en-US" sz="2400" i="1" dirty="0"/>
              <a:t> </a:t>
            </a:r>
            <a:r>
              <a:rPr lang="en-US" sz="2400" dirty="0"/>
              <a:t>when the market </a:t>
            </a:r>
            <a:r>
              <a:rPr lang="en-US" sz="2400" b="1" i="1" dirty="0"/>
              <a:t>moves adversely .</a:t>
            </a:r>
            <a:endParaRPr lang="en-IN" b="1" i="1" dirty="0"/>
          </a:p>
          <a:p>
            <a:pPr marL="285750" indent="-285750" algn="l">
              <a:buChar char="•"/>
            </a:pPr>
            <a:r>
              <a:rPr lang="en-US" sz="2400" dirty="0"/>
              <a:t>  It is an ongoing process that requires </a:t>
            </a:r>
            <a:r>
              <a:rPr lang="en-US" sz="2400" u="sng" dirty="0"/>
              <a:t>continuous monitoring </a:t>
            </a:r>
            <a:r>
              <a:rPr lang="en-US" sz="2400" dirty="0"/>
              <a:t>of </a:t>
            </a:r>
            <a:r>
              <a:rPr lang="en-US" sz="2400" i="1" dirty="0"/>
              <a:t>trading activities and adjusting strategies </a:t>
            </a:r>
            <a:r>
              <a:rPr lang="en-US" sz="2400" dirty="0"/>
              <a:t>as needed to adapt to </a:t>
            </a:r>
            <a:r>
              <a:rPr lang="en-US" sz="2400" u="sng" dirty="0"/>
              <a:t>changing market conditions.</a:t>
            </a:r>
            <a:endParaRPr lang="en-IN" u="sng" dirty="0"/>
          </a:p>
          <a:p>
            <a:pPr marL="285750" indent="-285750" algn="l">
              <a:buChar char="•"/>
            </a:pPr>
            <a:r>
              <a:rPr lang="en-US" sz="2400" dirty="0"/>
              <a:t> The primary goal is </a:t>
            </a:r>
            <a:r>
              <a:rPr lang="en-US" sz="2400" i="1" dirty="0"/>
              <a:t>to keep losses smaller than potential profits</a:t>
            </a:r>
            <a:r>
              <a:rPr lang="en-US" sz="2400" dirty="0"/>
              <a:t> and ensure a </a:t>
            </a:r>
            <a:r>
              <a:rPr lang="en-US" sz="2400" i="1" dirty="0"/>
              <a:t>trader can recover from a series of losses.</a:t>
            </a:r>
            <a:endParaRPr lang="en-IN" i="1" dirty="0"/>
          </a:p>
        </p:txBody>
      </p:sp>
    </p:spTree>
    <p:extLst>
      <p:ext uri="{BB962C8B-B14F-4D97-AF65-F5344CB8AC3E}">
        <p14:creationId xmlns:p14="http://schemas.microsoft.com/office/powerpoint/2010/main" val="42854938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69F5D16-DBCD-4925-D678-B46EA999A9C7}"/>
              </a:ext>
            </a:extLst>
          </p:cNvPr>
          <p:cNvSpPr/>
          <p:nvPr/>
        </p:nvSpPr>
        <p:spPr>
          <a:xfrm>
            <a:off x="3444225" y="3122203"/>
            <a:ext cx="5390352" cy="19461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83D436-E150-F9E7-C838-184F47499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552"/>
            <a:ext cx="10515600" cy="744606"/>
          </a:xfrm>
        </p:spPr>
        <p:txBody>
          <a:bodyPr>
            <a:normAutofit fontScale="90000"/>
          </a:bodyPr>
          <a:lstStyle/>
          <a:p>
            <a:r>
              <a:rPr lang="en-IN" sz="5400" b="1" u="sng">
                <a:solidFill>
                  <a:schemeClr val="tx1"/>
                </a:solidFill>
              </a:rPr>
              <a:t>Step 1 : Defining RPT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A23F3E-8953-FC0F-8DE0-C130A6E50C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222513"/>
            <a:ext cx="10428336" cy="4867137"/>
          </a:xfrm>
        </p:spPr>
        <p:txBody>
          <a:bodyPr vert="horz" lIns="91440" tIns="91440" rIns="91440" bIns="45720" rtlCol="0" anchor="t">
            <a:normAutofit/>
          </a:bodyPr>
          <a:lstStyle/>
          <a:p>
            <a:pPr marL="342900" indent="-342900" algn="l">
              <a:buChar char="•"/>
            </a:pPr>
            <a:r>
              <a:rPr lang="en-IN" sz="2000" dirty="0"/>
              <a:t>Risk per Trade (RPT)  is a fundamental risk management concept that defines the maximum amount of money a trader is willing to lose on a single trade . </a:t>
            </a:r>
            <a:endParaRPr lang="en-US" dirty="0"/>
          </a:p>
          <a:p>
            <a:pPr marL="342900" indent="-342900" algn="l">
              <a:buChar char="•"/>
            </a:pPr>
            <a:r>
              <a:rPr lang="en-IN" sz="2000" dirty="0"/>
              <a:t>Most popular rule that professional traders follow is </a:t>
            </a:r>
            <a:r>
              <a:rPr lang="en-IN" sz="2000" b="1" i="1" u="sng" dirty="0"/>
              <a:t>1% Rule </a:t>
            </a:r>
            <a:r>
              <a:rPr lang="en-IN" sz="2000" dirty="0"/>
              <a:t>. </a:t>
            </a:r>
            <a:endParaRPr lang="en-US" dirty="0"/>
          </a:p>
          <a:p>
            <a:pPr marL="342900" indent="-342900" algn="l">
              <a:buChar char="•"/>
            </a:pPr>
            <a:r>
              <a:rPr lang="en-IN" sz="2000" dirty="0"/>
              <a:t>This means </a:t>
            </a:r>
            <a:r>
              <a:rPr lang="en-IN" sz="2000" b="1" dirty="0"/>
              <a:t>you </a:t>
            </a:r>
            <a:r>
              <a:rPr lang="en-IN" sz="2000" b="1" i="1" dirty="0"/>
              <a:t>never risk more than 1% of your total account balance</a:t>
            </a:r>
            <a:r>
              <a:rPr lang="en-IN" sz="2000" b="1" dirty="0"/>
              <a:t> </a:t>
            </a:r>
            <a:r>
              <a:rPr lang="en-IN" sz="2000" dirty="0"/>
              <a:t>i.e. capital. </a:t>
            </a:r>
            <a:endParaRPr lang="en-US" dirty="0"/>
          </a:p>
          <a:p>
            <a:r>
              <a:rPr lang="en-IN" sz="2000" dirty="0"/>
              <a:t>         Formula : RPT = TOTAL CAPITAL </a:t>
            </a:r>
            <a:r>
              <a:rPr lang="en-IN" sz="2000" dirty="0">
                <a:ea typeface="+mn-lt"/>
                <a:cs typeface="+mn-lt"/>
              </a:rPr>
              <a:t>×</a:t>
            </a:r>
            <a:r>
              <a:rPr lang="en-IN" sz="2000" dirty="0"/>
              <a:t> RISK % </a:t>
            </a:r>
          </a:p>
          <a:p>
            <a:r>
              <a:rPr lang="en-IN" sz="2000" dirty="0"/>
              <a:t>      For Example , Total Capital is ₹ 1,00,000 </a:t>
            </a:r>
          </a:p>
          <a:p>
            <a:r>
              <a:rPr lang="en-IN" sz="2000" dirty="0"/>
              <a:t>                                    Risk % : 1% </a:t>
            </a:r>
          </a:p>
          <a:p>
            <a:r>
              <a:rPr lang="en-IN" sz="2000" dirty="0"/>
              <a:t>                  Then , RPT = ₹1,00,00 </a:t>
            </a:r>
            <a:r>
              <a:rPr lang="en-IN" sz="2000" dirty="0">
                <a:ea typeface="+mn-lt"/>
                <a:cs typeface="+mn-lt"/>
              </a:rPr>
              <a:t>×</a:t>
            </a:r>
            <a:r>
              <a:rPr lang="en-IN" sz="2000" dirty="0"/>
              <a:t> 0.01 = ₹ 1000</a:t>
            </a:r>
          </a:p>
        </p:txBody>
      </p:sp>
    </p:spTree>
    <p:extLst>
      <p:ext uri="{BB962C8B-B14F-4D97-AF65-F5344CB8AC3E}">
        <p14:creationId xmlns:p14="http://schemas.microsoft.com/office/powerpoint/2010/main" val="40879815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170574E-ABC3-657C-DCB8-7206CC040D5A}"/>
              </a:ext>
            </a:extLst>
          </p:cNvPr>
          <p:cNvSpPr/>
          <p:nvPr/>
        </p:nvSpPr>
        <p:spPr>
          <a:xfrm>
            <a:off x="2713613" y="3283588"/>
            <a:ext cx="6400483" cy="26136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5108C3-C1AC-5338-E4A2-316DA0F53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2337" y="209552"/>
            <a:ext cx="10515600" cy="814800"/>
          </a:xfrm>
        </p:spPr>
        <p:txBody>
          <a:bodyPr>
            <a:normAutofit/>
          </a:bodyPr>
          <a:lstStyle/>
          <a:p>
            <a:r>
              <a:rPr lang="en-IN" b="1" u="sng">
                <a:solidFill>
                  <a:schemeClr val="tx1"/>
                </a:solidFill>
              </a:rPr>
              <a:t>Step 2 &amp; 3 : RPS and Quantity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DDE559-4B68-903B-D394-A17A4B3E2D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6076" y="1292087"/>
            <a:ext cx="10515600" cy="4820478"/>
          </a:xfrm>
        </p:spPr>
        <p:txBody>
          <a:bodyPr vert="horz" lIns="91440" tIns="91440" rIns="91440" bIns="45720" rtlCol="0" anchor="t">
            <a:normAutofit fontScale="62500" lnSpcReduction="20000"/>
          </a:bodyPr>
          <a:lstStyle/>
          <a:p>
            <a:pPr marL="457200" indent="-457200" algn="l">
              <a:buChar char="•"/>
            </a:pPr>
            <a:r>
              <a:rPr lang="en-IN" sz="2800" dirty="0"/>
              <a:t>Risk Per Share (RPS) : is the amount you stand to </a:t>
            </a:r>
            <a:r>
              <a:rPr lang="en-IN" sz="2800" i="1" u="sng" dirty="0"/>
              <a:t>lose on a single share</a:t>
            </a:r>
            <a:r>
              <a:rPr lang="en-IN" sz="2800" dirty="0"/>
              <a:t> if the price hits your stop loss .</a:t>
            </a:r>
            <a:endParaRPr lang="en-US" dirty="0"/>
          </a:p>
          <a:p>
            <a:pPr marL="457200" indent="-457200" algn="l">
              <a:buChar char="•"/>
            </a:pPr>
            <a:r>
              <a:rPr lang="en-IN" sz="2800" dirty="0"/>
              <a:t> It calculated as the </a:t>
            </a:r>
            <a:r>
              <a:rPr lang="en-IN" sz="2800" b="1" i="1" u="sng" dirty="0"/>
              <a:t>entry price less the stop loss</a:t>
            </a:r>
            <a:r>
              <a:rPr lang="en-IN" sz="2800" dirty="0"/>
              <a:t>, and the quantity traded is measured by diving the RP  by the RPS . </a:t>
            </a:r>
            <a:endParaRPr lang="en-US" dirty="0"/>
          </a:p>
          <a:p>
            <a:pPr marL="457200" indent="-457200" algn="l">
              <a:buChar char="•"/>
            </a:pPr>
            <a:r>
              <a:rPr lang="en-IN" sz="2800" dirty="0"/>
              <a:t>All as per the plan , noting that a </a:t>
            </a:r>
            <a:r>
              <a:rPr lang="en-IN" sz="2800" u="sng" dirty="0"/>
              <a:t>risk reward ratio </a:t>
            </a:r>
            <a:r>
              <a:rPr lang="en-IN" sz="2800" i="1" u="sng" dirty="0"/>
              <a:t>of 1:3, 1:2 , 1:4 , or 1:5 signifies good performance . </a:t>
            </a:r>
            <a:endParaRPr lang="en-US" i="1" u="sng" dirty="0"/>
          </a:p>
          <a:p>
            <a:r>
              <a:rPr lang="en-IN" sz="2800" dirty="0"/>
              <a:t>  </a:t>
            </a:r>
            <a:r>
              <a:rPr lang="en-IN" sz="3400" dirty="0"/>
              <a:t>For Example , Entry Price : ₹500 , Stop Loss : ₹495 </a:t>
            </a:r>
          </a:p>
          <a:p>
            <a:r>
              <a:rPr lang="en-IN" sz="3400" dirty="0"/>
              <a:t>            Risk Per Share : ( ₹500 - ₹ 495 ) = ₹5 </a:t>
            </a:r>
          </a:p>
          <a:p>
            <a:r>
              <a:rPr lang="en-IN" sz="3400" dirty="0"/>
              <a:t>No. of purchase ( QUANTITY) = RPT / RPS </a:t>
            </a:r>
          </a:p>
          <a:p>
            <a:r>
              <a:rPr lang="en-IN" sz="3400" dirty="0"/>
              <a:t>                          RPT : ₹1000</a:t>
            </a:r>
          </a:p>
          <a:p>
            <a:r>
              <a:rPr lang="en-IN" sz="3400" dirty="0"/>
              <a:t>                          RPS : ₹ 5</a:t>
            </a:r>
          </a:p>
          <a:p>
            <a:r>
              <a:rPr lang="en-IN" sz="2800" dirty="0"/>
              <a:t>                         Quantity = ₹1000/5 = 200 shares </a:t>
            </a:r>
          </a:p>
        </p:txBody>
      </p:sp>
    </p:spTree>
    <p:extLst>
      <p:ext uri="{BB962C8B-B14F-4D97-AF65-F5344CB8AC3E}">
        <p14:creationId xmlns:p14="http://schemas.microsoft.com/office/powerpoint/2010/main" val="1002104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33CFAF7-9E14-6831-7AE9-AEBE8D1442DD}"/>
              </a:ext>
            </a:extLst>
          </p:cNvPr>
          <p:cNvSpPr/>
          <p:nvPr/>
        </p:nvSpPr>
        <p:spPr>
          <a:xfrm>
            <a:off x="2265334" y="2072135"/>
            <a:ext cx="7703317" cy="22961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D19744-9462-E5C0-5682-8804DF440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423" y="285138"/>
            <a:ext cx="8643154" cy="599445"/>
          </a:xfrm>
        </p:spPr>
        <p:txBody>
          <a:bodyPr>
            <a:noAutofit/>
          </a:bodyPr>
          <a:lstStyle/>
          <a:p>
            <a:r>
              <a:rPr lang="en-IN" sz="3200" cap="none">
                <a:solidFill>
                  <a:schemeClr val="tx1"/>
                </a:solidFill>
              </a:rPr>
              <a:t>THE IMPORTANCR OF RISK REWARD RATIO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EEC405-E29E-13EB-CBFC-D4A31CF051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3548" y="1103243"/>
            <a:ext cx="10157791" cy="4522305"/>
          </a:xfrm>
        </p:spPr>
        <p:txBody>
          <a:bodyPr vert="horz" lIns="91440" tIns="91440" rIns="91440" bIns="45720" rtlCol="0" anchor="t">
            <a:normAutofit/>
          </a:bodyPr>
          <a:lstStyle/>
          <a:p>
            <a:pPr marL="342900" indent="-342900" algn="l">
              <a:buChar char="•"/>
            </a:pPr>
            <a:r>
              <a:rPr lang="en-IN" sz="2000" dirty="0"/>
              <a:t>The R:R ratio compares the potential profit ( Reward ) against your calculated risk (RPS) .</a:t>
            </a:r>
            <a:endParaRPr lang="en-US" dirty="0"/>
          </a:p>
          <a:p>
            <a:r>
              <a:rPr lang="en-IN" sz="2000" dirty="0"/>
              <a:t>    For example , Entry Price : ₹ 500 </a:t>
            </a:r>
          </a:p>
          <a:p>
            <a:r>
              <a:rPr lang="en-IN" sz="2000" dirty="0"/>
              <a:t>                              Target : ₹ 510</a:t>
            </a:r>
          </a:p>
          <a:p>
            <a:r>
              <a:rPr lang="en-IN" sz="2000" dirty="0"/>
              <a:t>                              Reward : ₹ 10 </a:t>
            </a:r>
          </a:p>
          <a:p>
            <a:r>
              <a:rPr lang="en-IN" sz="2000" dirty="0"/>
              <a:t>                                RPS : ₹ 5 </a:t>
            </a:r>
          </a:p>
          <a:p>
            <a:r>
              <a:rPr lang="en-IN" sz="2000" dirty="0"/>
              <a:t>        Then , Risk Reward Ratio = ₹ 10/5 = 2:1 ( This is a standard RRR) </a:t>
            </a:r>
          </a:p>
          <a:p>
            <a:pPr marL="342900" indent="-342900" algn="l">
              <a:buChar char="•"/>
            </a:pPr>
            <a:r>
              <a:rPr lang="en-IN" sz="2000" dirty="0"/>
              <a:t>Standard Rule : In swing trading , the </a:t>
            </a:r>
            <a:r>
              <a:rPr lang="en-IN" sz="2000" b="1" i="1" u="sng" dirty="0"/>
              <a:t>minimum RRR should be more than 1: 3 . </a:t>
            </a:r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7796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2E1E2-8195-C62B-67DB-FEBE7742D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98783"/>
            <a:ext cx="9291215" cy="785191"/>
          </a:xfrm>
        </p:spPr>
        <p:txBody>
          <a:bodyPr>
            <a:normAutofit/>
          </a:bodyPr>
          <a:lstStyle/>
          <a:p>
            <a:r>
              <a:rPr lang="en-IN" sz="3600" cap="none">
                <a:solidFill>
                  <a:schemeClr val="tx1"/>
                </a:solidFill>
              </a:rPr>
              <a:t>RISK PRIORITY TABLE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BAD3F1-63FA-6F13-AE57-E8BA4C82444E}"/>
              </a:ext>
            </a:extLst>
          </p:cNvPr>
          <p:cNvSpPr txBox="1"/>
          <p:nvPr/>
        </p:nvSpPr>
        <p:spPr>
          <a:xfrm>
            <a:off x="924340" y="591378"/>
            <a:ext cx="106249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cap="none">
                <a:solidFill>
                  <a:schemeClr val="tx1"/>
                </a:solidFill>
              </a:rPr>
              <a:t> 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0B3E598-820C-B458-B596-30D8058D2C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119955"/>
              </p:ext>
            </p:extLst>
          </p:nvPr>
        </p:nvGraphicFramePr>
        <p:xfrm>
          <a:off x="805071" y="1280564"/>
          <a:ext cx="10555355" cy="33463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11071">
                  <a:extLst>
                    <a:ext uri="{9D8B030D-6E8A-4147-A177-3AD203B41FA5}">
                      <a16:colId xmlns:a16="http://schemas.microsoft.com/office/drawing/2014/main" val="2592195357"/>
                    </a:ext>
                  </a:extLst>
                </a:gridCol>
                <a:gridCol w="2111071">
                  <a:extLst>
                    <a:ext uri="{9D8B030D-6E8A-4147-A177-3AD203B41FA5}">
                      <a16:colId xmlns:a16="http://schemas.microsoft.com/office/drawing/2014/main" val="1932105241"/>
                    </a:ext>
                  </a:extLst>
                </a:gridCol>
                <a:gridCol w="2111071">
                  <a:extLst>
                    <a:ext uri="{9D8B030D-6E8A-4147-A177-3AD203B41FA5}">
                      <a16:colId xmlns:a16="http://schemas.microsoft.com/office/drawing/2014/main" val="3056802215"/>
                    </a:ext>
                  </a:extLst>
                </a:gridCol>
                <a:gridCol w="2111071">
                  <a:extLst>
                    <a:ext uri="{9D8B030D-6E8A-4147-A177-3AD203B41FA5}">
                      <a16:colId xmlns:a16="http://schemas.microsoft.com/office/drawing/2014/main" val="3540323313"/>
                    </a:ext>
                  </a:extLst>
                </a:gridCol>
                <a:gridCol w="2111071">
                  <a:extLst>
                    <a:ext uri="{9D8B030D-6E8A-4147-A177-3AD203B41FA5}">
                      <a16:colId xmlns:a16="http://schemas.microsoft.com/office/drawing/2014/main" val="770367089"/>
                    </a:ext>
                  </a:extLst>
                </a:gridCol>
              </a:tblGrid>
              <a:tr h="755691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accent1"/>
                          </a:solidFill>
                        </a:rPr>
                        <a:t>Risk Name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accent1"/>
                          </a:solidFill>
                        </a:rPr>
                        <a:t>Likelihood (1-5)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accent1"/>
                          </a:solidFill>
                        </a:rPr>
                        <a:t>Impact (1-5)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accent1"/>
                          </a:solidFill>
                        </a:rPr>
                        <a:t>RPS Value (L </a:t>
                      </a:r>
                      <a:r>
                        <a:rPr lang="en-IN" sz="1800" b="0" i="0" u="none" strike="noStrike" noProof="0" dirty="0">
                          <a:solidFill>
                            <a:schemeClr val="accent1"/>
                          </a:solidFill>
                          <a:latin typeface="Rockwell"/>
                        </a:rPr>
                        <a:t>×</a:t>
                      </a:r>
                      <a:r>
                        <a:rPr lang="en-IN" dirty="0">
                          <a:solidFill>
                            <a:schemeClr val="accent1"/>
                          </a:solidFill>
                        </a:rPr>
                        <a:t> R )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accent1"/>
                          </a:solidFill>
                        </a:rPr>
                        <a:t>Final Priority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7013012"/>
                  </a:ext>
                </a:extLst>
              </a:tr>
              <a:tr h="756397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accent1"/>
                          </a:solidFill>
                        </a:rPr>
                        <a:t>Market </a:t>
                      </a:r>
                      <a:r>
                        <a:rPr lang="en-IN" err="1">
                          <a:solidFill>
                            <a:schemeClr val="accent1"/>
                          </a:solidFill>
                        </a:rPr>
                        <a:t>volatiliy</a:t>
                      </a:r>
                      <a:endParaRPr lang="en-IN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accent5"/>
                          </a:solidFill>
                        </a:rPr>
                        <a:t>High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2336809"/>
                  </a:ext>
                </a:extLst>
              </a:tr>
              <a:tr h="504264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accent1"/>
                          </a:solidFill>
                        </a:rPr>
                        <a:t>Broker system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rgbClr val="FF0000"/>
                          </a:solidFill>
                        </a:rPr>
                        <a:t>Low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9446012"/>
                  </a:ext>
                </a:extLst>
              </a:tr>
              <a:tr h="574301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accent1"/>
                          </a:solidFill>
                        </a:rPr>
                        <a:t>Internet failure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rgbClr val="FFFF00"/>
                          </a:solidFill>
                        </a:rPr>
                        <a:t>Medium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7204504"/>
                  </a:ext>
                </a:extLst>
              </a:tr>
              <a:tr h="755691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accent1"/>
                          </a:solidFill>
                        </a:rPr>
                        <a:t>Unexpected interest rate hike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9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rgbClr val="FFFF00"/>
                          </a:solidFill>
                        </a:rPr>
                        <a:t>Medium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93215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92035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4E9B-2F23-3F6B-CBC3-BFAB9FDDE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5093" y="275200"/>
            <a:ext cx="8643154" cy="539809"/>
          </a:xfrm>
        </p:spPr>
        <p:txBody>
          <a:bodyPr>
            <a:normAutofit/>
          </a:bodyPr>
          <a:lstStyle/>
          <a:p>
            <a:r>
              <a:rPr lang="en-IN" sz="3200" b="1" u="sng">
                <a:solidFill>
                  <a:schemeClr val="tx1"/>
                </a:solidFill>
              </a:rPr>
              <a:t>Summary &amp; key takeaways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E4AD86-F228-AE9F-CD1D-1673C2767F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91478" y="1083365"/>
            <a:ext cx="9621079" cy="4442364"/>
          </a:xfrm>
        </p:spPr>
        <p:txBody>
          <a:bodyPr vert="horz" lIns="91440" tIns="91440" rIns="91440" bIns="45720" rtlCol="0" anchor="t">
            <a:normAutofit fontScale="25000" lnSpcReduction="20000"/>
          </a:bodyPr>
          <a:lstStyle/>
          <a:p>
            <a:pPr marL="342900" indent="-342900" algn="l">
              <a:buAutoNum type="arabicPeriod"/>
            </a:pPr>
            <a:r>
              <a:rPr lang="en-IN" sz="5600" b="1" dirty="0">
                <a:solidFill>
                  <a:schemeClr val="accent1">
                    <a:lumMod val="75000"/>
                  </a:schemeClr>
                </a:solidFill>
              </a:rPr>
              <a:t>Determine RPT </a:t>
            </a:r>
            <a:r>
              <a:rPr lang="en-IN" sz="5600" dirty="0"/>
              <a:t>:  Monetary amount willing to loose on single trade.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5600" dirty="0">
                <a:solidFill>
                  <a:schemeClr val="tx1"/>
                </a:solidFill>
              </a:rPr>
              <a:t>Fixed percentage of total capital invested [ 1% to 2% ] 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5600" dirty="0">
                <a:solidFill>
                  <a:schemeClr val="tx1"/>
                </a:solidFill>
              </a:rPr>
              <a:t>RPT = Total Trading Capital × Risk %</a:t>
            </a:r>
            <a:r>
              <a:rPr lang="en-IN" sz="5600" dirty="0">
                <a:solidFill>
                  <a:schemeClr val="tx1"/>
                </a:solidFill>
              </a:rPr>
              <a:t> </a:t>
            </a:r>
            <a:r>
              <a:rPr lang="en-IN" sz="5600" dirty="0"/>
              <a:t> </a:t>
            </a:r>
          </a:p>
          <a:p>
            <a:pPr marL="342900" indent="-342900" algn="l">
              <a:buAutoNum type="arabicPeriod"/>
            </a:pPr>
            <a:r>
              <a:rPr lang="en-IN" sz="5600" b="1" dirty="0">
                <a:solidFill>
                  <a:schemeClr val="accent1">
                    <a:lumMod val="75000"/>
                  </a:schemeClr>
                </a:solidFill>
              </a:rPr>
              <a:t>Determine RPS </a:t>
            </a:r>
            <a:r>
              <a:rPr lang="en-IN" sz="5600" b="1" dirty="0"/>
              <a:t>: </a:t>
            </a:r>
            <a:r>
              <a:rPr lang="en-IN" sz="5600" dirty="0"/>
              <a:t>Difference between the entry price and the determined stop loss price.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5600" dirty="0">
                <a:solidFill>
                  <a:schemeClr val="tx1"/>
                </a:solidFill>
              </a:rPr>
              <a:t>Determine how much we loss on a single trade.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5600" dirty="0">
                <a:solidFill>
                  <a:schemeClr val="tx1"/>
                </a:solidFill>
              </a:rPr>
              <a:t>RPS = Entry Price - Stop-Loss Price.</a:t>
            </a:r>
            <a:endParaRPr lang="en-IN" sz="5600" dirty="0">
              <a:solidFill>
                <a:schemeClr val="tx1"/>
              </a:solidFill>
            </a:endParaRPr>
          </a:p>
          <a:p>
            <a:pPr marL="342900" indent="-342900" algn="l">
              <a:buAutoNum type="arabicPeriod"/>
            </a:pPr>
            <a:r>
              <a:rPr lang="en-IN" sz="5600" b="1" dirty="0">
                <a:solidFill>
                  <a:schemeClr val="accent1">
                    <a:lumMod val="75000"/>
                  </a:schemeClr>
                </a:solidFill>
              </a:rPr>
              <a:t>Calculation of position : </a:t>
            </a:r>
            <a:r>
              <a:rPr lang="en-IN" sz="5600" dirty="0"/>
              <a:t>Determines the quantity we should buy.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5600" dirty="0">
                <a:solidFill>
                  <a:schemeClr val="tx1"/>
                </a:solidFill>
              </a:rPr>
              <a:t>Ensures if stop loss is hit we loss only predetermined RPT amount.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5600" dirty="0">
                <a:solidFill>
                  <a:schemeClr val="tx1"/>
                </a:solidFill>
              </a:rPr>
              <a:t>Position Size = RPT / RPS </a:t>
            </a:r>
          </a:p>
          <a:p>
            <a:pPr marL="342900" indent="-342900" algn="l">
              <a:buAutoNum type="arabicPeriod"/>
            </a:pPr>
            <a:r>
              <a:rPr lang="en-IN" sz="5600" dirty="0"/>
              <a:t> </a:t>
            </a:r>
            <a:r>
              <a:rPr lang="en-IN" sz="5600" b="1" dirty="0">
                <a:solidFill>
                  <a:schemeClr val="accent1">
                    <a:lumMod val="75000"/>
                  </a:schemeClr>
                </a:solidFill>
              </a:rPr>
              <a:t>Determine RRR </a:t>
            </a:r>
            <a:r>
              <a:rPr lang="en-IN" sz="5600" dirty="0">
                <a:solidFill>
                  <a:schemeClr val="accent1">
                    <a:lumMod val="75000"/>
                  </a:schemeClr>
                </a:solidFill>
              </a:rPr>
              <a:t>: </a:t>
            </a:r>
            <a:r>
              <a:rPr lang="en-IN" sz="5600" dirty="0"/>
              <a:t>Compares potential loss to potential gain.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5600" dirty="0">
                <a:solidFill>
                  <a:schemeClr val="tx1"/>
                </a:solidFill>
              </a:rPr>
              <a:t>Minimum ratio 1:2 or 1:3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5600" dirty="0">
                <a:solidFill>
                  <a:schemeClr val="tx1"/>
                </a:solidFill>
              </a:rPr>
              <a:t>RRR = (Entry Price - Stop-Loss Price) / (Target Price - Entry Price)</a:t>
            </a:r>
          </a:p>
          <a:p>
            <a:pPr lvl="1"/>
            <a:r>
              <a:rPr lang="en-IN" sz="5600" dirty="0">
                <a:solidFill>
                  <a:schemeClr val="tx1"/>
                </a:solidFill>
              </a:rPr>
              <a:t>To conclude , effective risk management is a simple , systematic process with the help of RPS/RPT calculation ,  So that one can manage their risk by adjusting their strategies. </a:t>
            </a:r>
          </a:p>
          <a:p>
            <a:pPr marL="342900" indent="-342900" algn="l"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62643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84427CF-D977-7AFF-7845-88F201279B8D}"/>
              </a:ext>
            </a:extLst>
          </p:cNvPr>
          <p:cNvSpPr/>
          <p:nvPr/>
        </p:nvSpPr>
        <p:spPr>
          <a:xfrm>
            <a:off x="3829578" y="2644170"/>
            <a:ext cx="4532844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96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rush Script MT" panose="03060802040406070304" pitchFamily="66" charset="0"/>
              </a:rPr>
              <a:t>Thank You</a:t>
            </a:r>
            <a:endParaRPr lang="en-IN" sz="96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16166004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9D5"/>
      </a:lt2>
      <a:accent1>
        <a:srgbClr val="FB8C29"/>
      </a:accent1>
      <a:accent2>
        <a:srgbClr val="F2C351"/>
      </a:accent2>
      <a:accent3>
        <a:srgbClr val="D0CBA5"/>
      </a:accent3>
      <a:accent4>
        <a:srgbClr val="A2C476"/>
      </a:accent4>
      <a:accent5>
        <a:srgbClr val="57C293"/>
      </a:accent5>
      <a:accent6>
        <a:srgbClr val="06BFDE"/>
      </a:accent6>
      <a:hlink>
        <a:srgbClr val="FBAE29"/>
      </a:hlink>
      <a:folHlink>
        <a:srgbClr val="EDC47E"/>
      </a:folHlink>
    </a:clrScheme>
    <a:fontScheme name="Gallery">
      <a:majorFont>
        <a:latin typeface="Rockwell" panose="020606030202050204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BB5F5D82-B5E9-469E-A815-C655ED4AF24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14</TotalTime>
  <Words>719</Words>
  <Application>Microsoft Office PowerPoint</Application>
  <PresentationFormat>Widescreen</PresentationFormat>
  <Paragraphs>82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Angsana New</vt:lpstr>
      <vt:lpstr>Arial</vt:lpstr>
      <vt:lpstr>Brush Script MT</vt:lpstr>
      <vt:lpstr>Rockwell</vt:lpstr>
      <vt:lpstr>Gallery</vt:lpstr>
      <vt:lpstr>RISK MANAGEMENT USING RPT &amp; RPS</vt:lpstr>
      <vt:lpstr>PROJECT OVERVIEW</vt:lpstr>
      <vt:lpstr>Effective Risk Management in Stock Trading </vt:lpstr>
      <vt:lpstr>Step 1 : Defining RPT </vt:lpstr>
      <vt:lpstr>Step 2 &amp; 3 : RPS and Quantity </vt:lpstr>
      <vt:lpstr>THE IMPORTANCR OF RISK REWARD RATIO </vt:lpstr>
      <vt:lpstr>RISK PRIORITY TABLE </vt:lpstr>
      <vt:lpstr>Summary &amp; key takeaways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Bhaswati Koley</dc:creator>
  <cp:lastModifiedBy>Bhaswati Koley</cp:lastModifiedBy>
  <cp:revision>76</cp:revision>
  <dcterms:created xsi:type="dcterms:W3CDTF">2025-12-27T08:20:59Z</dcterms:created>
  <dcterms:modified xsi:type="dcterms:W3CDTF">2025-12-31T14:16:40Z</dcterms:modified>
</cp:coreProperties>
</file>